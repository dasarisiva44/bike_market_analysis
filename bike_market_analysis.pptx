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85" r:id="rId5"/>
    <p:sldId id="284" r:id="rId6"/>
    <p:sldId id="260" r:id="rId7"/>
    <p:sldId id="261" r:id="rId8"/>
    <p:sldId id="262" r:id="rId9"/>
    <p:sldId id="263" r:id="rId10"/>
    <p:sldId id="279" r:id="rId11"/>
    <p:sldId id="283" r:id="rId12"/>
    <p:sldId id="271" r:id="rId13"/>
    <p:sldId id="272" r:id="rId14"/>
    <p:sldId id="266" r:id="rId15"/>
    <p:sldId id="270" r:id="rId16"/>
    <p:sldId id="267" r:id="rId17"/>
    <p:sldId id="265" r:id="rId18"/>
    <p:sldId id="273" r:id="rId19"/>
    <p:sldId id="281" r:id="rId20"/>
    <p:sldId id="277" r:id="rId21"/>
    <p:sldId id="282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amsi" userId="c2880346727386a0" providerId="LiveId" clId="{D39ADADA-7794-42A8-AE08-55B77976A776}"/>
    <pc:docChg chg="undo redo custSel addSld delSld modSld sldOrd">
      <pc:chgData name="Lakshmi vamsi" userId="c2880346727386a0" providerId="LiveId" clId="{D39ADADA-7794-42A8-AE08-55B77976A776}" dt="2026-07-25T11:33:32.016" v="323" actId="47"/>
      <pc:docMkLst>
        <pc:docMk/>
      </pc:docMkLst>
      <pc:sldChg chg="delSp modSp mod">
        <pc:chgData name="Lakshmi vamsi" userId="c2880346727386a0" providerId="LiveId" clId="{D39ADADA-7794-42A8-AE08-55B77976A776}" dt="2026-07-25T10:02:17.582" v="128" actId="1076"/>
        <pc:sldMkLst>
          <pc:docMk/>
          <pc:sldMk cId="0" sldId="256"/>
        </pc:sldMkLst>
        <pc:spChg chg="mod">
          <ac:chgData name="Lakshmi vamsi" userId="c2880346727386a0" providerId="LiveId" clId="{D39ADADA-7794-42A8-AE08-55B77976A776}" dt="2026-07-25T10:02:17.582" v="128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Lakshmi vamsi" userId="c2880346727386a0" providerId="LiveId" clId="{D39ADADA-7794-42A8-AE08-55B77976A776}" dt="2026-07-25T04:31:16.014" v="1" actId="478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Lakshmi vamsi" userId="c2880346727386a0" providerId="LiveId" clId="{D39ADADA-7794-42A8-AE08-55B77976A776}" dt="2026-07-25T10:02:01.288" v="127" actId="478"/>
        <pc:sldMkLst>
          <pc:docMk/>
          <pc:sldMk cId="0" sldId="257"/>
        </pc:sldMkLst>
        <pc:spChg chg="mod">
          <ac:chgData name="Lakshmi vamsi" userId="c2880346727386a0" providerId="LiveId" clId="{D39ADADA-7794-42A8-AE08-55B77976A776}" dt="2026-07-25T04:31:51.355" v="27" actId="20577"/>
          <ac:spMkLst>
            <pc:docMk/>
            <pc:sldMk cId="0" sldId="257"/>
            <ac:spMk id="17" creationId="{BC84750B-42D5-47D2-A448-DB2F91B25004}"/>
          </ac:spMkLst>
        </pc:spChg>
        <pc:picChg chg="del">
          <ac:chgData name="Lakshmi vamsi" userId="c2880346727386a0" providerId="LiveId" clId="{D39ADADA-7794-42A8-AE08-55B77976A776}" dt="2026-07-25T10:01:59.142" v="126" actId="478"/>
          <ac:picMkLst>
            <pc:docMk/>
            <pc:sldMk cId="0" sldId="257"/>
            <ac:picMk id="20" creationId="{AF058EFE-AC9F-45A2-A8D8-24376621BE6E}"/>
          </ac:picMkLst>
        </pc:picChg>
        <pc:picChg chg="del">
          <ac:chgData name="Lakshmi vamsi" userId="c2880346727386a0" providerId="LiveId" clId="{D39ADADA-7794-42A8-AE08-55B77976A776}" dt="2026-07-25T10:02:01.288" v="127" actId="478"/>
          <ac:picMkLst>
            <pc:docMk/>
            <pc:sldMk cId="0" sldId="257"/>
            <ac:picMk id="22" creationId="{499D43E4-B12E-46A4-9003-314D9AC7215A}"/>
          </ac:picMkLst>
        </pc:picChg>
      </pc:sldChg>
      <pc:sldChg chg="modSp mod">
        <pc:chgData name="Lakshmi vamsi" userId="c2880346727386a0" providerId="LiveId" clId="{D39ADADA-7794-42A8-AE08-55B77976A776}" dt="2026-07-25T10:41:25.434" v="253" actId="20577"/>
        <pc:sldMkLst>
          <pc:docMk/>
          <pc:sldMk cId="0" sldId="263"/>
        </pc:sldMkLst>
        <pc:spChg chg="mod">
          <ac:chgData name="Lakshmi vamsi" userId="c2880346727386a0" providerId="LiveId" clId="{D39ADADA-7794-42A8-AE08-55B77976A776}" dt="2026-07-25T10:41:25.434" v="253" actId="20577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del mod">
        <pc:chgData name="Lakshmi vamsi" userId="c2880346727386a0" providerId="LiveId" clId="{D39ADADA-7794-42A8-AE08-55B77976A776}" dt="2026-07-25T11:33:32.016" v="323" actId="47"/>
        <pc:sldMkLst>
          <pc:docMk/>
          <pc:sldMk cId="0" sldId="275"/>
        </pc:sldMkLst>
        <pc:spChg chg="mod">
          <ac:chgData name="Lakshmi vamsi" userId="c2880346727386a0" providerId="LiveId" clId="{D39ADADA-7794-42A8-AE08-55B77976A776}" dt="2026-07-25T04:51:13.316" v="83" actId="255"/>
          <ac:spMkLst>
            <pc:docMk/>
            <pc:sldMk cId="0" sldId="275"/>
            <ac:spMk id="4" creationId="{00000000-0000-0000-0000-000000000000}"/>
          </ac:spMkLst>
        </pc:spChg>
        <pc:spChg chg="add del">
          <ac:chgData name="Lakshmi vamsi" userId="c2880346727386a0" providerId="LiveId" clId="{D39ADADA-7794-42A8-AE08-55B77976A776}" dt="2026-07-25T04:47:20.704" v="29"/>
          <ac:spMkLst>
            <pc:docMk/>
            <pc:sldMk cId="0" sldId="275"/>
            <ac:spMk id="6" creationId="{37DCCEB9-3DD9-4773-AA10-844652B477C2}"/>
          </ac:spMkLst>
        </pc:spChg>
        <pc:spChg chg="add del mod">
          <ac:chgData name="Lakshmi vamsi" userId="c2880346727386a0" providerId="LiveId" clId="{D39ADADA-7794-42A8-AE08-55B77976A776}" dt="2026-07-25T04:47:44.249" v="40"/>
          <ac:spMkLst>
            <pc:docMk/>
            <pc:sldMk cId="0" sldId="275"/>
            <ac:spMk id="7" creationId="{0A9775B0-BE15-42C2-A838-239560E79826}"/>
          </ac:spMkLst>
        </pc:spChg>
        <pc:spChg chg="add del">
          <ac:chgData name="Lakshmi vamsi" userId="c2880346727386a0" providerId="LiveId" clId="{D39ADADA-7794-42A8-AE08-55B77976A776}" dt="2026-07-25T04:48:45.385" v="61"/>
          <ac:spMkLst>
            <pc:docMk/>
            <pc:sldMk cId="0" sldId="275"/>
            <ac:spMk id="8" creationId="{C8F24AE2-F332-46A9-9B47-CC211CA572C5}"/>
          </ac:spMkLst>
        </pc:spChg>
      </pc:sldChg>
      <pc:sldChg chg="addSp delSp modSp mod">
        <pc:chgData name="Lakshmi vamsi" userId="c2880346727386a0" providerId="LiveId" clId="{D39ADADA-7794-42A8-AE08-55B77976A776}" dt="2026-07-25T09:50:53.308" v="119"/>
        <pc:sldMkLst>
          <pc:docMk/>
          <pc:sldMk cId="0" sldId="276"/>
        </pc:sldMkLst>
        <pc:spChg chg="mod">
          <ac:chgData name="Lakshmi vamsi" userId="c2880346727386a0" providerId="LiveId" clId="{D39ADADA-7794-42A8-AE08-55B77976A776}" dt="2026-07-25T09:50:53.308" v="119"/>
          <ac:spMkLst>
            <pc:docMk/>
            <pc:sldMk cId="0" sldId="276"/>
            <ac:spMk id="4" creationId="{00000000-0000-0000-0000-000000000000}"/>
          </ac:spMkLst>
        </pc:spChg>
        <pc:spChg chg="add del">
          <ac:chgData name="Lakshmi vamsi" userId="c2880346727386a0" providerId="LiveId" clId="{D39ADADA-7794-42A8-AE08-55B77976A776}" dt="2026-07-25T09:49:35.238" v="85"/>
          <ac:spMkLst>
            <pc:docMk/>
            <pc:sldMk cId="0" sldId="276"/>
            <ac:spMk id="6" creationId="{2EB7112B-9F53-4CE6-8BF2-087502E2D665}"/>
          </ac:spMkLst>
        </pc:spChg>
      </pc:sldChg>
      <pc:sldChg chg="addSp delSp modSp new mod ord">
        <pc:chgData name="Lakshmi vamsi" userId="c2880346727386a0" providerId="LiveId" clId="{D39ADADA-7794-42A8-AE08-55B77976A776}" dt="2026-07-25T11:24:08.056" v="315" actId="20577"/>
        <pc:sldMkLst>
          <pc:docMk/>
          <pc:sldMk cId="2952583374" sldId="279"/>
        </pc:sldMkLst>
        <pc:spChg chg="add del">
          <ac:chgData name="Lakshmi vamsi" userId="c2880346727386a0" providerId="LiveId" clId="{D39ADADA-7794-42A8-AE08-55B77976A776}" dt="2026-07-25T11:13:14.424" v="256" actId="22"/>
          <ac:spMkLst>
            <pc:docMk/>
            <pc:sldMk cId="2952583374" sldId="279"/>
            <ac:spMk id="3" creationId="{2CBB5EF4-3028-493C-AA19-E79E4EF45D55}"/>
          </ac:spMkLst>
        </pc:spChg>
        <pc:spChg chg="add mod">
          <ac:chgData name="Lakshmi vamsi" userId="c2880346727386a0" providerId="LiveId" clId="{D39ADADA-7794-42A8-AE08-55B77976A776}" dt="2026-07-25T11:24:08.056" v="315" actId="20577"/>
          <ac:spMkLst>
            <pc:docMk/>
            <pc:sldMk cId="2952583374" sldId="279"/>
            <ac:spMk id="10" creationId="{FF7FE707-FCD8-455C-9FB7-32C9F25DE911}"/>
          </ac:spMkLst>
        </pc:spChg>
        <pc:picChg chg="add del mod">
          <ac:chgData name="Lakshmi vamsi" userId="c2880346727386a0" providerId="LiveId" clId="{D39ADADA-7794-42A8-AE08-55B77976A776}" dt="2026-07-25T11:15:21.926" v="305" actId="1076"/>
          <ac:picMkLst>
            <pc:docMk/>
            <pc:sldMk cId="2952583374" sldId="279"/>
            <ac:picMk id="5" creationId="{BE2FA7B4-B0B2-4259-B623-F3685B5622DD}"/>
          </ac:picMkLst>
        </pc:picChg>
        <pc:picChg chg="add del">
          <ac:chgData name="Lakshmi vamsi" userId="c2880346727386a0" providerId="LiveId" clId="{D39ADADA-7794-42A8-AE08-55B77976A776}" dt="2026-07-25T11:14:57.058" v="297" actId="478"/>
          <ac:picMkLst>
            <pc:docMk/>
            <pc:sldMk cId="2952583374" sldId="279"/>
            <ac:picMk id="7" creationId="{774CA38A-7332-4450-8678-97EDD831FA56}"/>
          </ac:picMkLst>
        </pc:picChg>
        <pc:picChg chg="add del mod">
          <ac:chgData name="Lakshmi vamsi" userId="c2880346727386a0" providerId="LiveId" clId="{D39ADADA-7794-42A8-AE08-55B77976A776}" dt="2026-07-25T11:14:54.520" v="296" actId="478"/>
          <ac:picMkLst>
            <pc:docMk/>
            <pc:sldMk cId="2952583374" sldId="279"/>
            <ac:picMk id="9" creationId="{9A611D27-C369-4179-B970-806002FA862F}"/>
          </ac:picMkLst>
        </pc:picChg>
      </pc:sldChg>
      <pc:sldChg chg="modSp add mod setBg">
        <pc:chgData name="Lakshmi vamsi" userId="c2880346727386a0" providerId="LiveId" clId="{D39ADADA-7794-42A8-AE08-55B77976A776}" dt="2026-07-25T11:33:13.425" v="322" actId="2711"/>
        <pc:sldMkLst>
          <pc:docMk/>
          <pc:sldMk cId="0" sldId="281"/>
        </pc:sldMkLst>
        <pc:spChg chg="mod">
          <ac:chgData name="Lakshmi vamsi" userId="c2880346727386a0" providerId="LiveId" clId="{D39ADADA-7794-42A8-AE08-55B77976A776}" dt="2026-07-25T11:33:13.425" v="322" actId="2711"/>
          <ac:spMkLst>
            <pc:docMk/>
            <pc:sldMk cId="0" sldId="281"/>
            <ac:spMk id="4" creationId="{00000000-0000-0000-0000-000000000000}"/>
          </ac:spMkLst>
        </pc:spChg>
      </pc:sldChg>
      <pc:sldChg chg="add ord setBg">
        <pc:chgData name="Lakshmi vamsi" userId="c2880346727386a0" providerId="LiveId" clId="{D39ADADA-7794-42A8-AE08-55B77976A776}" dt="2026-07-25T11:29:08.363" v="318"/>
        <pc:sldMkLst>
          <pc:docMk/>
          <pc:sldMk cId="0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6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2CE6-A994-9627-A66B-5FA3793D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34375-5DC8-1CF5-D7D2-58B35EE11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1303B-9FA5-D5E9-5DC8-C7DA2D3E5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CB8D2-6403-906B-EC79-7A0449198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C273-4606-E76F-F475-F802AD24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FF064-124E-F598-FF51-66CD3161C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67387-5726-D8A4-C423-E311F7963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3A156-7722-DAAD-CA09-999AD9E6C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49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asarisiva44" TargetMode="External"/><Relationship Id="rId3" Type="http://schemas.openxmlformats.org/officeDocument/2006/relationships/hyperlink" Target="https://www.linkedin.com/in/vamsi-bodigadla-717330244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github.com/Hemanth38174" TargetMode="External"/><Relationship Id="rId4" Type="http://schemas.openxmlformats.org/officeDocument/2006/relationships/hyperlink" Target="linkedin.com/in/siva-dasari-08644a222" TargetMode="External"/><Relationship Id="rId9" Type="http://schemas.openxmlformats.org/officeDocument/2006/relationships/hyperlink" Target="linkedin.com/in/hemanth-kolluru-a3475826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search?q=bikes%20&amp;otracker=search&amp;otracker1=search&amp;marketplace=FLIPKART&amp;as-show=on&amp;as=of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8952" cy="6691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722914"/>
            <a:ext cx="10728960" cy="130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BIKE MARKET ANALYSIS </a:t>
            </a:r>
            <a:b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 Scraping &amp; Exploratory Data Analysis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31520" y="456701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504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Program  |  Innomatics Research Labs</a:t>
            </a:r>
            <a:endParaRPr lang="en-US" sz="1300" dirty="0"/>
          </a:p>
        </p:txBody>
      </p:sp>
      <p:pic>
        <p:nvPicPr>
          <p:cNvPr id="5" name="Picture 4" descr="Motorbike Logo PNG Transparent Images Free Download | Vector ...">
            <a:extLst>
              <a:ext uri="{FF2B5EF4-FFF2-40B4-BE49-F238E27FC236}">
                <a16:creationId xmlns:a16="http://schemas.microsoft.com/office/drawing/2014/main" id="{D70DAE56-ECDA-4535-76E7-846693A83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2" y="3365213"/>
            <a:ext cx="2731197" cy="29136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720248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GB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DASARI SIVA KRISHNA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Completed MSC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Science Trainee - Innomatics Research Labs, Hyderabad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Skills: Python, SQL, Power BI, Excel, Web Scraping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7772400" y="63972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>
                <a:hlinkClick r:id="rId4" action="ppaction://hlinkfile"/>
              </a:rPr>
              <a:t>LinkedIn</a:t>
            </a:r>
            <a:endParaRPr lang="en-US" sz="1500" dirty="0"/>
          </a:p>
        </p:txBody>
      </p:sp>
      <p:pic>
        <p:nvPicPr>
          <p:cNvPr id="6" name="Image 0" descr="innomatic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715216-A7AD-48C6-B848-620885DB7937}"/>
              </a:ext>
            </a:extLst>
          </p:cNvPr>
          <p:cNvCxnSpPr/>
          <p:nvPr/>
        </p:nvCxnSpPr>
        <p:spPr>
          <a:xfrm>
            <a:off x="548640" y="2723949"/>
            <a:ext cx="10491537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04F1A60-0704-4A4D-B97F-F8466A4CB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936" y="620829"/>
            <a:ext cx="479744" cy="479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871629-78BF-4E97-9B10-F94B61FBD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V="1">
            <a:off x="7321708" y="1188720"/>
            <a:ext cx="330200" cy="330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4292FC-F37D-45EF-858B-40728E44BB6F}"/>
              </a:ext>
            </a:extLst>
          </p:cNvPr>
          <p:cNvSpPr txBox="1"/>
          <p:nvPr/>
        </p:nvSpPr>
        <p:spPr>
          <a:xfrm>
            <a:off x="7772400" y="1191276"/>
            <a:ext cx="1176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8"/>
              </a:rPr>
              <a:t>GitHub</a:t>
            </a:r>
            <a:endParaRPr lang="en-IN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947DD47-A5A9-423C-9E6D-B86DB0AE52E7}"/>
              </a:ext>
            </a:extLst>
          </p:cNvPr>
          <p:cNvSpPr/>
          <p:nvPr/>
        </p:nvSpPr>
        <p:spPr>
          <a:xfrm>
            <a:off x="762000" y="2949256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KOLLURU HEMANTH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Completed BTech (AI&amp;ML)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Science Trainee - Innomatics Research Labs, Hyderabad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Skills: Python, SQL, Power BI, Excel, Web Scraping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C84750B-42D5-47D2-A448-DB2F91B25004}"/>
              </a:ext>
            </a:extLst>
          </p:cNvPr>
          <p:cNvSpPr/>
          <p:nvPr/>
        </p:nvSpPr>
        <p:spPr>
          <a:xfrm>
            <a:off x="655320" y="4995383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578180-FFA0-4D2A-9BC2-7D9F8427BE79}"/>
              </a:ext>
            </a:extLst>
          </p:cNvPr>
          <p:cNvCxnSpPr/>
          <p:nvPr/>
        </p:nvCxnSpPr>
        <p:spPr>
          <a:xfrm>
            <a:off x="548640" y="4770077"/>
            <a:ext cx="10491537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154868F-DA62-47BF-A6D8-F443C1964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936" y="3129238"/>
            <a:ext cx="479744" cy="4797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02E96DB-2DD2-4F08-AA45-0FC626FE538A}"/>
              </a:ext>
            </a:extLst>
          </p:cNvPr>
          <p:cNvSpPr txBox="1"/>
          <p:nvPr/>
        </p:nvSpPr>
        <p:spPr>
          <a:xfrm>
            <a:off x="7772400" y="3184444"/>
            <a:ext cx="295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9" action="ppaction://hlinkfile"/>
              </a:rPr>
              <a:t>LinkedIn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8A17A-5721-6F77-63F8-088AA145216A}"/>
              </a:ext>
            </a:extLst>
          </p:cNvPr>
          <p:cNvSpPr txBox="1"/>
          <p:nvPr/>
        </p:nvSpPr>
        <p:spPr>
          <a:xfrm>
            <a:off x="7246936" y="3757370"/>
            <a:ext cx="589703" cy="45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387CAF-2A90-47B3-75A9-B3FACE50B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V="1">
            <a:off x="7309008" y="3671072"/>
            <a:ext cx="330200" cy="330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49E669-7DAB-9C20-227E-3AEBCCCD6175}"/>
              </a:ext>
            </a:extLst>
          </p:cNvPr>
          <p:cNvSpPr txBox="1"/>
          <p:nvPr/>
        </p:nvSpPr>
        <p:spPr>
          <a:xfrm rot="10800000" flipV="1">
            <a:off x="7852568" y="3702163"/>
            <a:ext cx="122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10"/>
              </a:rPr>
              <a:t>GitHub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Objective of the Project</a:t>
            </a:r>
            <a:r>
              <a:rPr lang="en-IN" dirty="0"/>
              <a:t>  </a:t>
            </a:r>
          </a:p>
          <a:p>
            <a:pPr marL="28575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Problem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Website &amp; Data Collection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Web Scraping Approach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Raw Dataset Overview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Data Cleaning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Feature Engineering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Final Dataset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Questions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Exploratory Data Analysis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Insights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Recommendations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Challenges Faced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Conclusion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Q &amp; A</a:t>
            </a:r>
          </a:p>
          <a:p>
            <a:pPr>
              <a:spcAft>
                <a:spcPts val="1400"/>
              </a:spcAft>
              <a:buSzPct val="100000"/>
            </a:pPr>
            <a:endParaRPr lang="en-US" sz="18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42A93-07C2-C89F-9735-5CE65C5D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E6C690-9C9A-FB75-084B-09EED6522466}"/>
              </a:ext>
            </a:extLst>
          </p:cNvPr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B25CE1-FD72-AF08-CC5D-4447B99A2FC8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the Project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57498A-A099-3FFC-6F74-320366C40FC3}"/>
              </a:ext>
            </a:extLst>
          </p:cNvPr>
          <p:cNvSpPr/>
          <p:nvPr/>
        </p:nvSpPr>
        <p:spPr>
          <a:xfrm>
            <a:off x="640080" y="1280160"/>
            <a:ext cx="6604000" cy="5321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Collect</a:t>
            </a:r>
            <a:r>
              <a:rPr lang="en-IN" sz="2400" dirty="0"/>
              <a:t> real-world bike data through web scraping.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Extract</a:t>
            </a:r>
            <a:r>
              <a:rPr lang="en-IN" sz="2400" dirty="0"/>
              <a:t> key bike details such as price, brand, rating, engine and power.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Clean</a:t>
            </a:r>
            <a:r>
              <a:rPr lang="en-IN" sz="2400" dirty="0"/>
              <a:t> and preprocess the scraped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Standardize</a:t>
            </a:r>
            <a:r>
              <a:rPr lang="en-IN" sz="2400" dirty="0"/>
              <a:t> power values into BHP.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 err="1"/>
              <a:t>Analyze</a:t>
            </a:r>
            <a:r>
              <a:rPr lang="en-IN" sz="2400" dirty="0"/>
              <a:t> bike pricing, performance and customer ratings.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Identify</a:t>
            </a:r>
            <a:r>
              <a:rPr lang="en-IN" sz="2400" dirty="0"/>
              <a:t> relationships between important bike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Generate</a:t>
            </a:r>
            <a:r>
              <a:rPr lang="en-IN" sz="2400" dirty="0"/>
              <a:t> business insights and recommendations.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1800" dirty="0"/>
          </a:p>
        </p:txBody>
      </p:sp>
      <p:pic>
        <p:nvPicPr>
          <p:cNvPr id="5" name="Image 0" descr="innomatics_logo.png">
            <a:extLst>
              <a:ext uri="{FF2B5EF4-FFF2-40B4-BE49-F238E27FC236}">
                <a16:creationId xmlns:a16="http://schemas.microsoft.com/office/drawing/2014/main" id="{BE02194D-2E98-F15E-B10D-305ED6BC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6F68B9-34C5-313A-2615-A9362D2DE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024" y="828674"/>
            <a:ext cx="4048887" cy="545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4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59B2C-A4C2-BCB6-C857-9579F070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0598B8-DB46-A132-CFD3-E20FADC749AF}"/>
              </a:ext>
            </a:extLst>
          </p:cNvPr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0F9F65-9B21-435C-6B78-D641BED54564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dirty="0">
                <a:solidFill>
                  <a:srgbClr val="FF0000"/>
                </a:solidFill>
              </a:rPr>
              <a:t>Business Problem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8E2FA1-4923-6539-904E-5E87A967B6FF}"/>
              </a:ext>
            </a:extLst>
          </p:cNvPr>
          <p:cNvSpPr/>
          <p:nvPr/>
        </p:nvSpPr>
        <p:spPr>
          <a:xfrm>
            <a:off x="594360" y="1005840"/>
            <a:ext cx="10972800" cy="5321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>
              <a:lnSpc>
                <a:spcPct val="150000"/>
              </a:lnSpc>
            </a:pPr>
            <a:r>
              <a:rPr lang="en-IN" sz="2300" b="1" dirty="0"/>
              <a:t>Online bike listings contain large amounts of information about price, brands, performance, customer ratings, and features, but this raw data is difficult to interpret for market analysis.</a:t>
            </a:r>
          </a:p>
          <a:p>
            <a:pPr>
              <a:lnSpc>
                <a:spcPct val="150000"/>
              </a:lnSpc>
            </a:pPr>
            <a:r>
              <a:rPr lang="en-IN" sz="2500" b="1" dirty="0"/>
              <a:t>The project aims to: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/>
              <a:t>Identify brand and pricing trends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/>
              <a:t>Understand engine &amp; performance patterns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 err="1"/>
              <a:t>Analyze</a:t>
            </a:r>
            <a:r>
              <a:rPr lang="en-IN" sz="2300" b="1" dirty="0"/>
              <a:t> customer ratings and reviews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/>
              <a:t>Compare bike features and specifications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/>
              <a:t>Discover relationships between price and performance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1" dirty="0"/>
              <a:t>Generate data-driven market insights</a:t>
            </a:r>
          </a:p>
          <a:p>
            <a:pPr lvl="0">
              <a:lnSpc>
                <a:spcPct val="150000"/>
              </a:lnSpc>
            </a:pPr>
            <a:endParaRPr lang="en-US" sz="2300" b="1" dirty="0"/>
          </a:p>
        </p:txBody>
      </p:sp>
      <p:pic>
        <p:nvPicPr>
          <p:cNvPr id="5" name="Image 0" descr="innomatics_logo.png">
            <a:extLst>
              <a:ext uri="{FF2B5EF4-FFF2-40B4-BE49-F238E27FC236}">
                <a16:creationId xmlns:a16="http://schemas.microsoft.com/office/drawing/2014/main" id="{944D52F9-9BE3-6AEE-E266-361E0A281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3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04983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Website                                    :  </a:t>
            </a:r>
            <a:r>
              <a:rPr lang="en-IN" sz="2500" dirty="0"/>
              <a:t>Flipkart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Website Link                            : </a:t>
            </a:r>
            <a:r>
              <a:rPr lang="en-IN" sz="2500" b="1" dirty="0">
                <a:hlinkClick r:id="rId3"/>
              </a:rPr>
              <a:t>flipkart.com</a:t>
            </a:r>
            <a:endParaRPr lang="en-IN" sz="25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Data Category                         : </a:t>
            </a:r>
            <a:r>
              <a:rPr lang="en-IN" sz="2500" dirty="0"/>
              <a:t>Non-Electric Motorcycles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Final Dataset                           : </a:t>
            </a:r>
            <a:r>
              <a:rPr lang="en-IN" sz="2500" dirty="0"/>
              <a:t>263 Bike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Features Used                         : </a:t>
            </a:r>
            <a:r>
              <a:rPr lang="en-IN" sz="2500" dirty="0"/>
              <a:t>11 Columns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Project Scope                          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Bike product details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Price analysis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Customer ratings &amp; reviews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Engine &amp; power specifications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Bike features and specifications</a:t>
            </a:r>
          </a:p>
          <a:p>
            <a:pPr>
              <a:spcAft>
                <a:spcPts val="1400"/>
              </a:spcAft>
              <a:buSzPct val="100000"/>
            </a:pPr>
            <a:endParaRPr lang="en-US" sz="18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Extracted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6588760" cy="53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1400"/>
              </a:spcAft>
              <a:buSzPct val="100000"/>
            </a:pPr>
            <a:r>
              <a:rPr lang="en-IN" b="1" dirty="0"/>
              <a:t>Key attributes collected from Flipkart for Bike Market Analysis</a:t>
            </a:r>
          </a:p>
          <a:p>
            <a:pPr>
              <a:spcAft>
                <a:spcPts val="1400"/>
              </a:spcAft>
              <a:buSzPct val="100000"/>
            </a:pPr>
            <a:endParaRPr lang="en-US" b="1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AE083C-45D1-EC66-4EEC-4B7F78A0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580692"/>
              </p:ext>
            </p:extLst>
          </p:nvPr>
        </p:nvGraphicFramePr>
        <p:xfrm>
          <a:off x="883460" y="1811462"/>
          <a:ext cx="10425082" cy="4440624"/>
        </p:xfrm>
        <a:graphic>
          <a:graphicData uri="http://schemas.openxmlformats.org/drawingml/2006/table">
            <a:tbl>
              <a:tblPr/>
              <a:tblGrid>
                <a:gridCol w="2154380">
                  <a:extLst>
                    <a:ext uri="{9D8B030D-6E8A-4147-A177-3AD203B41FA5}">
                      <a16:colId xmlns:a16="http://schemas.microsoft.com/office/drawing/2014/main" val="2569866233"/>
                    </a:ext>
                  </a:extLst>
                </a:gridCol>
                <a:gridCol w="8270702">
                  <a:extLst>
                    <a:ext uri="{9D8B030D-6E8A-4147-A177-3AD203B41FA5}">
                      <a16:colId xmlns:a16="http://schemas.microsoft.com/office/drawing/2014/main" val="1518606659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Field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Description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3582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Product Name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Bike model name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0412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Brand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Manufacturer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55697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Price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Bike price in INR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7615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Rating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 rating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63068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Ratings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customer ratings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6382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Reviews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customer reviews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6633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Engine Capacity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Engine size in CC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68379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Maximum Power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Engine power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6843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Front Brake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Brake type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1836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Console Type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Instrument console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64665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Tire Type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Type of tire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143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05468" y="4242816"/>
            <a:ext cx="3498981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pic>
        <p:nvPicPr>
          <p:cNvPr id="1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925F6D-0A3A-2214-A17D-DAB3A3E29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54284"/>
              </p:ext>
            </p:extLst>
          </p:nvPr>
        </p:nvGraphicFramePr>
        <p:xfrm>
          <a:off x="640080" y="1005840"/>
          <a:ext cx="5455920" cy="4754880"/>
        </p:xfrm>
        <a:graphic>
          <a:graphicData uri="http://schemas.openxmlformats.org/drawingml/2006/table">
            <a:tbl>
              <a:tblPr/>
              <a:tblGrid>
                <a:gridCol w="2727960">
                  <a:extLst>
                    <a:ext uri="{9D8B030D-6E8A-4147-A177-3AD203B41FA5}">
                      <a16:colId xmlns:a16="http://schemas.microsoft.com/office/drawing/2014/main" val="1112332072"/>
                    </a:ext>
                  </a:extLst>
                </a:gridCol>
                <a:gridCol w="2727960">
                  <a:extLst>
                    <a:ext uri="{9D8B030D-6E8A-4147-A177-3AD203B41FA5}">
                      <a16:colId xmlns:a16="http://schemas.microsoft.com/office/drawing/2014/main" val="1070812420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01265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🌐 </a:t>
                      </a:r>
                      <a:r>
                        <a:rPr lang="en-IN" b="1" dirty="0"/>
                        <a:t>1. Website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Flipkart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835217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🔍 </a:t>
                      </a:r>
                      <a:r>
                        <a:rPr lang="en-IN" b="1" dirty="0"/>
                        <a:t>2. Search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bike listings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9681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📄 </a:t>
                      </a:r>
                      <a:r>
                        <a:rPr lang="en-IN" b="1" dirty="0"/>
                        <a:t>3. Extraction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required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6169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🐼 </a:t>
                      </a:r>
                      <a:r>
                        <a:rPr lang="en-IN" b="1"/>
                        <a:t>4. DataFrame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data using 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07693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💾 </a:t>
                      </a:r>
                      <a:r>
                        <a:rPr lang="en-IN" b="1" dirty="0"/>
                        <a:t>5. Dataset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Save scraped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18696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B1F8CC9-B57D-784E-283A-6EBE82D80AA1}"/>
              </a:ext>
            </a:extLst>
          </p:cNvPr>
          <p:cNvSpPr txBox="1"/>
          <p:nvPr/>
        </p:nvSpPr>
        <p:spPr>
          <a:xfrm>
            <a:off x="765110" y="5705669"/>
            <a:ext cx="8124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 :</a:t>
            </a:r>
          </a:p>
          <a:p>
            <a:r>
              <a:rPr lang="en-IN" dirty="0"/>
              <a:t>The final dataset contains 263 bike records and 11 features after preprocessing.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F4DD3C-7CCE-1596-8A2B-939399A9E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553" y="225171"/>
            <a:ext cx="5488357" cy="57895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871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pic>
        <p:nvPicPr>
          <p:cNvPr id="1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C0A1E2-0D91-297E-B429-CEA7F6F472BE}"/>
              </a:ext>
            </a:extLst>
          </p:cNvPr>
          <p:cNvSpPr/>
          <p:nvPr/>
        </p:nvSpPr>
        <p:spPr>
          <a:xfrm>
            <a:off x="91440" y="1328658"/>
            <a:ext cx="3346241" cy="2410544"/>
          </a:xfrm>
          <a:prstGeom prst="roundRect">
            <a:avLst>
              <a:gd name="adj" fmla="val 790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200" b="1" dirty="0"/>
              <a:t>RAW SCRAPED DATA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Missing Values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Inconsistent Formats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Mixed Data Types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Irrelevant Columns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923D29-9C94-3F58-2A1A-B46096604560}"/>
              </a:ext>
            </a:extLst>
          </p:cNvPr>
          <p:cNvSpPr/>
          <p:nvPr/>
        </p:nvSpPr>
        <p:spPr>
          <a:xfrm>
            <a:off x="5984240" y="1097280"/>
            <a:ext cx="3879448" cy="24446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DATA CLEANING </a:t>
            </a:r>
            <a:r>
              <a:rPr lang="en-IN" sz="2200" b="1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Handle Missing Values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Correct Data Types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Standardize Categories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Remove Unnecessary Columns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endParaRPr lang="en-IN" sz="22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4D2A84-E4A1-3263-27BF-415E29C2B430}"/>
              </a:ext>
            </a:extLst>
          </p:cNvPr>
          <p:cNvSpPr/>
          <p:nvPr/>
        </p:nvSpPr>
        <p:spPr>
          <a:xfrm>
            <a:off x="6172174" y="4285151"/>
            <a:ext cx="3789680" cy="21522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FEATURE ENGINEERING</a:t>
            </a:r>
            <a:endParaRPr lang="en-IN" sz="22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Extract Power Values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Convert Power → BHP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Create Analysis-Ready Feature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6DE7F7-C991-9531-C96C-85C3BA11A8DA}"/>
              </a:ext>
            </a:extLst>
          </p:cNvPr>
          <p:cNvSpPr/>
          <p:nvPr/>
        </p:nvSpPr>
        <p:spPr>
          <a:xfrm>
            <a:off x="762000" y="4331478"/>
            <a:ext cx="3942029" cy="17675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FINAL DATASET</a:t>
            </a:r>
            <a:endParaRPr lang="en-IN" sz="22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263 Records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11 Features</a:t>
            </a:r>
          </a:p>
          <a:p>
            <a:r>
              <a:rPr lang="en-IN" sz="2400" dirty="0"/>
              <a:t>Analysis-Ready Data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7B27D9-06E6-CBE8-5DEA-56E8674BA8F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437681" y="2495358"/>
            <a:ext cx="2546559" cy="38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8F34B5-0634-0702-CB9F-7D6B6AAA688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923964" y="3541969"/>
            <a:ext cx="0" cy="698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E5268B-A9B4-52A3-56C0-B20E6142C05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4734509" y="5361263"/>
            <a:ext cx="14376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FF7FE707-FCD8-455C-9FB7-32C9F25DE911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cs typeface="Arial" pitchFamily="34" charset="-120"/>
              </a:rPr>
              <a:t>Before Data Cleaning And Feature Engineering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B9AC7-095F-397F-13BA-BC0D8BC1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" y="1371600"/>
            <a:ext cx="10993120" cy="418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632F-A48C-0C86-9A02-ED56A702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9A47F56A-85EB-513D-C6DE-538D78631EF8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cs typeface="Arial" pitchFamily="34" charset="-120"/>
              </a:rPr>
              <a:t> After Data Cleaning And Feature Engineering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798C9-4FCC-DA75-2562-263D052B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3880" y="1291564"/>
            <a:ext cx="11064240" cy="424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36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29736" y="-24823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</a:t>
            </a:r>
            <a:r>
              <a:rPr lang="en-IN" sz="2000" dirty="0">
                <a:solidFill>
                  <a:srgbClr val="FF0000"/>
                </a:solidFill>
              </a:rPr>
              <a:t>What is the overall price distribution of bikes?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697128" cy="233172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697128" cy="41148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 err="1"/>
              <a:t>plt.figure</a:t>
            </a:r>
            <a:r>
              <a:rPr lang="en-IN" sz="1600" dirty="0"/>
              <a:t>(</a:t>
            </a:r>
            <a:r>
              <a:rPr lang="en-IN" sz="1600" dirty="0" err="1"/>
              <a:t>figsize</a:t>
            </a:r>
            <a:r>
              <a:rPr lang="en-IN" sz="1600" dirty="0"/>
              <a:t>=(8,5))</a:t>
            </a:r>
          </a:p>
          <a:p>
            <a:r>
              <a:rPr lang="en-IN" sz="1600" dirty="0" err="1"/>
              <a:t>sns.histplot</a:t>
            </a:r>
            <a:r>
              <a:rPr lang="en-IN" sz="1600" dirty="0"/>
              <a:t>(</a:t>
            </a:r>
            <a:r>
              <a:rPr lang="en-IN" sz="1600" dirty="0" err="1"/>
              <a:t>df</a:t>
            </a:r>
            <a:r>
              <a:rPr lang="en-IN" sz="1600" dirty="0"/>
              <a:t>["</a:t>
            </a:r>
            <a:r>
              <a:rPr lang="en-IN" sz="1600" dirty="0" err="1"/>
              <a:t>Price_INR</a:t>
            </a:r>
            <a:r>
              <a:rPr lang="en-IN" sz="1600" dirty="0"/>
              <a:t>"], bins=20, </a:t>
            </a:r>
            <a:r>
              <a:rPr lang="en-IN" sz="1600" dirty="0" err="1"/>
              <a:t>kde</a:t>
            </a:r>
            <a:r>
              <a:rPr lang="en-IN" sz="1600" dirty="0"/>
              <a:t>=True)</a:t>
            </a:r>
          </a:p>
          <a:p>
            <a:r>
              <a:rPr lang="en-IN" sz="1600" dirty="0" err="1"/>
              <a:t>plt.title</a:t>
            </a:r>
            <a:r>
              <a:rPr lang="en-IN" sz="1600" dirty="0"/>
              <a:t>("Distribution of Price ")</a:t>
            </a:r>
          </a:p>
          <a:p>
            <a:r>
              <a:rPr lang="en-IN" sz="1600" dirty="0" err="1"/>
              <a:t>plt.show</a:t>
            </a:r>
            <a:r>
              <a:rPr lang="en-IN" sz="1600" dirty="0"/>
              <a:t>() # Right Skew</a:t>
            </a:r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80522" y="695137"/>
            <a:ext cx="6232358" cy="4577025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68745" y="430646"/>
            <a:ext cx="4225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3773FE-ECDA-4B39-810C-2D135B5A981A}"/>
              </a:ext>
            </a:extLst>
          </p:cNvPr>
          <p:cNvGrpSpPr/>
          <p:nvPr/>
        </p:nvGrpSpPr>
        <p:grpSpPr>
          <a:xfrm>
            <a:off x="5380522" y="688409"/>
            <a:ext cx="6232358" cy="326768"/>
            <a:chOff x="5380522" y="991893"/>
            <a:chExt cx="6232358" cy="326768"/>
          </a:xfrm>
        </p:grpSpPr>
        <p:sp>
          <p:nvSpPr>
            <p:cNvPr id="14" name="Shape 12"/>
            <p:cNvSpPr/>
            <p:nvPr/>
          </p:nvSpPr>
          <p:spPr>
            <a:xfrm>
              <a:off x="5380522" y="998621"/>
              <a:ext cx="6232358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5550747" y="1101621"/>
              <a:ext cx="116197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5783140" y="1101621"/>
              <a:ext cx="116197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6015533" y="1101621"/>
              <a:ext cx="116197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6448630" y="991893"/>
              <a:ext cx="4964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702E3E-8F4C-4769-957E-0D62CAA34A88}"/>
              </a:ext>
            </a:extLst>
          </p:cNvPr>
          <p:cNvGrpSpPr/>
          <p:nvPr/>
        </p:nvGrpSpPr>
        <p:grpSpPr>
          <a:xfrm>
            <a:off x="548640" y="5102352"/>
            <a:ext cx="11064240" cy="1920240"/>
            <a:chOff x="548640" y="3931920"/>
            <a:chExt cx="11064240" cy="1920240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dirty="0"/>
                <a:t>The bike market is largely concentrated in the lower-to-mid price segment, with relatively fewer premium-priced models</a:t>
              </a:r>
              <a:r>
                <a:rPr lang="en-IN" sz="1400" dirty="0"/>
                <a:t>.</a:t>
              </a:r>
              <a:endParaRPr lang="en-US" sz="1350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16FBA0-E181-66B2-6C64-9AEAF0C28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087" y="1097271"/>
            <a:ext cx="6131291" cy="4041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</a:t>
            </a:r>
            <a:r>
              <a:rPr lang="en-IN" sz="2000" dirty="0">
                <a:solidFill>
                  <a:srgbClr val="FF0000"/>
                </a:solidFill>
              </a:rPr>
              <a:t>Brand Market Presence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Which brands have the highest number of bike models in the dataset?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2911642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 err="1"/>
              <a:t>plt.figure</a:t>
            </a:r>
            <a:r>
              <a:rPr lang="en-IN" sz="1600" dirty="0"/>
              <a:t>(</a:t>
            </a:r>
            <a:r>
              <a:rPr lang="en-IN" sz="1600" dirty="0" err="1"/>
              <a:t>figsize</a:t>
            </a:r>
            <a:r>
              <a:rPr lang="en-IN" sz="1600" dirty="0"/>
              <a:t>=(10,5))</a:t>
            </a:r>
          </a:p>
          <a:p>
            <a:r>
              <a:rPr lang="en-IN" sz="1600" dirty="0" err="1"/>
              <a:t>sns.countplot</a:t>
            </a:r>
            <a:r>
              <a:rPr lang="en-IN" sz="1600" dirty="0"/>
              <a:t>(</a:t>
            </a:r>
          </a:p>
          <a:p>
            <a:r>
              <a:rPr lang="en-IN" sz="1600" dirty="0"/>
              <a:t>    data=</a:t>
            </a:r>
            <a:r>
              <a:rPr lang="en-IN" sz="1600" dirty="0" err="1"/>
              <a:t>df</a:t>
            </a:r>
            <a:r>
              <a:rPr lang="en-IN" sz="1600" dirty="0"/>
              <a:t>,</a:t>
            </a:r>
          </a:p>
          <a:p>
            <a:r>
              <a:rPr lang="en-IN" sz="1600" dirty="0"/>
              <a:t>    x="</a:t>
            </a:r>
            <a:r>
              <a:rPr lang="en-IN" sz="1600" dirty="0" err="1"/>
              <a:t>Brand_fixed</a:t>
            </a:r>
            <a:r>
              <a:rPr lang="en-IN" sz="1600" dirty="0"/>
              <a:t>",</a:t>
            </a:r>
          </a:p>
          <a:p>
            <a:r>
              <a:rPr lang="en-IN" sz="1600" dirty="0"/>
              <a:t>    order=</a:t>
            </a:r>
            <a:r>
              <a:rPr lang="en-IN" sz="1600" dirty="0" err="1"/>
              <a:t>df</a:t>
            </a:r>
            <a:r>
              <a:rPr lang="en-IN" sz="1600" dirty="0"/>
              <a:t>["</a:t>
            </a:r>
            <a:r>
              <a:rPr lang="en-IN" sz="1600" dirty="0" err="1"/>
              <a:t>Brand_fixed</a:t>
            </a:r>
            <a:r>
              <a:rPr lang="en-IN" sz="1600" dirty="0"/>
              <a:t>"].</a:t>
            </a:r>
            <a:r>
              <a:rPr lang="en-IN" sz="1600" dirty="0" err="1"/>
              <a:t>value_counts</a:t>
            </a:r>
            <a:r>
              <a:rPr lang="en-IN" sz="1600" dirty="0"/>
              <a:t>().index</a:t>
            </a:r>
          </a:p>
          <a:p>
            <a:r>
              <a:rPr lang="en-IN" sz="1600" dirty="0"/>
              <a:t>)</a:t>
            </a:r>
          </a:p>
          <a:p>
            <a:r>
              <a:rPr lang="en-IN" sz="1600" dirty="0" err="1"/>
              <a:t>plt.xticks</a:t>
            </a:r>
            <a:r>
              <a:rPr lang="en-IN" sz="1600" dirty="0"/>
              <a:t>(rotation=45)</a:t>
            </a:r>
          </a:p>
          <a:p>
            <a:r>
              <a:rPr lang="en-IN" sz="1600" dirty="0" err="1"/>
              <a:t>plt.title</a:t>
            </a:r>
            <a:r>
              <a:rPr lang="en-IN" sz="1600" dirty="0"/>
              <a:t>("Bike Count by Brand")</a:t>
            </a:r>
          </a:p>
          <a:p>
            <a:r>
              <a:rPr lang="en-IN" sz="1600" dirty="0" err="1"/>
              <a:t>plt.show</a:t>
            </a:r>
            <a:r>
              <a:rPr lang="en-IN" sz="1600" dirty="0"/>
              <a:t>()</a:t>
            </a:r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76472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61907"/>
            <a:ext cx="5394960" cy="440098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8DD04A-B18C-470F-BFCF-C15C3205D2DF}"/>
              </a:ext>
            </a:extLst>
          </p:cNvPr>
          <p:cNvGrpSpPr/>
          <p:nvPr/>
        </p:nvGrpSpPr>
        <p:grpSpPr>
          <a:xfrm>
            <a:off x="6217920" y="1061907"/>
            <a:ext cx="5394960" cy="320040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DECA82-38F5-44C0-97E2-1FE989E180E2}"/>
              </a:ext>
            </a:extLst>
          </p:cNvPr>
          <p:cNvGrpSpPr/>
          <p:nvPr/>
        </p:nvGrpSpPr>
        <p:grpSpPr>
          <a:xfrm>
            <a:off x="563880" y="5252582"/>
            <a:ext cx="11064240" cy="1060704"/>
            <a:chOff x="548640" y="3931920"/>
            <a:chExt cx="11064240" cy="1060704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713232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871728" y="4389120"/>
              <a:ext cx="10512552" cy="49377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b="1" dirty="0"/>
                <a:t>Hero has the highest number of bike models in the dataset, indicating the strongest product presence among the </a:t>
              </a:r>
              <a:r>
                <a:rPr lang="en-IN" b="1" dirty="0" err="1"/>
                <a:t>analyzed</a:t>
              </a:r>
              <a:r>
                <a:rPr lang="en-IN" b="1" dirty="0"/>
                <a:t> brands.</a:t>
              </a:r>
              <a:endParaRPr lang="en-US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8E3ABB-DCC1-FD7B-A3E3-F56949D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3" y="1450527"/>
            <a:ext cx="5120958" cy="40958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-182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</a:t>
            </a:r>
            <a:r>
              <a:rPr lang="en-IN" sz="2000" dirty="0">
                <a:solidFill>
                  <a:srgbClr val="FF0000"/>
                </a:solidFill>
              </a:rPr>
              <a:t>Brand-wise Price Analysis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IN" sz="2000" dirty="0">
                <a:solidFill>
                  <a:srgbClr val="FF0000"/>
                </a:solidFill>
              </a:rPr>
              <a:t>Which brands have the highest average bike prices?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08273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4F7D1F-5F99-4B1F-9E1F-4429CFC0333D}"/>
              </a:ext>
            </a:extLst>
          </p:cNvPr>
          <p:cNvGrpSpPr/>
          <p:nvPr/>
        </p:nvGrpSpPr>
        <p:grpSpPr>
          <a:xfrm>
            <a:off x="529687" y="751368"/>
            <a:ext cx="5212080" cy="3101629"/>
            <a:chOff x="548640" y="1371600"/>
            <a:chExt cx="5394960" cy="2331720"/>
          </a:xfrm>
        </p:grpSpPr>
        <p:sp>
          <p:nvSpPr>
            <p:cNvPr id="5" name="Shape 3"/>
            <p:cNvSpPr/>
            <p:nvPr/>
          </p:nvSpPr>
          <p:spPr>
            <a:xfrm>
              <a:off x="548640" y="1371600"/>
              <a:ext cx="5394960" cy="2331720"/>
            </a:xfrm>
            <a:prstGeom prst="rect">
              <a:avLst/>
            </a:prstGeom>
            <a:solidFill>
              <a:srgbClr val="F6F6F6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54864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8580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88696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108813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146304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analysis.py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31520" y="1783080"/>
              <a:ext cx="5029200" cy="1783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2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833854" y="439344"/>
            <a:ext cx="3877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33852" y="739704"/>
            <a:ext cx="5719649" cy="4009794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33853" y="751369"/>
            <a:ext cx="6358147" cy="361176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79269" y="889750"/>
            <a:ext cx="106638" cy="118537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56004" y="889750"/>
            <a:ext cx="106638" cy="118537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52500" y="889750"/>
            <a:ext cx="106638" cy="118537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77945" y="715707"/>
            <a:ext cx="4556331" cy="461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6CFA5D-7F6D-4481-AF2F-11FA45D4FA33}"/>
              </a:ext>
            </a:extLst>
          </p:cNvPr>
          <p:cNvGrpSpPr/>
          <p:nvPr/>
        </p:nvGrpSpPr>
        <p:grpSpPr>
          <a:xfrm>
            <a:off x="489262" y="4520898"/>
            <a:ext cx="10835640" cy="1920239"/>
            <a:chOff x="548640" y="3931920"/>
            <a:chExt cx="10835640" cy="1920239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595282"/>
              <a:ext cx="10607040" cy="125687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Harley Davidson </a:t>
              </a:r>
              <a:r>
                <a:rPr lang="en-IN" b="1" dirty="0"/>
                <a:t>has the highest average bike price among the </a:t>
              </a:r>
              <a:r>
                <a:rPr lang="en-IN" b="1" dirty="0" err="1"/>
                <a:t>analyzed</a:t>
              </a:r>
              <a:r>
                <a:rPr lang="en-IN" b="1" dirty="0"/>
                <a:t> brands, indicating a stronger presence in the premium-price segment.</a:t>
              </a:r>
              <a:endParaRPr lang="en-US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CE0E46-665D-DEE3-1DF3-33E957FD4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153" y="1260958"/>
            <a:ext cx="5986114" cy="383944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B22E8BA-1B2F-6AF8-A30E-5359226F22E3}"/>
              </a:ext>
            </a:extLst>
          </p:cNvPr>
          <p:cNvSpPr txBox="1"/>
          <p:nvPr/>
        </p:nvSpPr>
        <p:spPr>
          <a:xfrm>
            <a:off x="529688" y="1225296"/>
            <a:ext cx="5089224" cy="209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plt.figure(</a:t>
            </a:r>
            <a:r>
              <a:rPr lang="en-IN" sz="1600" dirty="0" err="1">
                <a:effectLst/>
                <a:latin typeface="Courier New" panose="02070309020205020404" pitchFamily="49" charset="0"/>
              </a:rPr>
              <a:t>figsize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=(12,6))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 err="1">
                <a:effectLst/>
                <a:latin typeface="Courier New" panose="02070309020205020404" pitchFamily="49" charset="0"/>
              </a:rPr>
              <a:t>sns.barplot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    data=</a:t>
            </a:r>
            <a:r>
              <a:rPr lang="en-IN" sz="1600" dirty="0" err="1">
                <a:effectLst/>
                <a:latin typeface="Courier New" panose="02070309020205020404" pitchFamily="49" charset="0"/>
              </a:rPr>
              <a:t>df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    x="</a:t>
            </a:r>
            <a:r>
              <a:rPr lang="en-IN" sz="1600" dirty="0" err="1">
                <a:effectLst/>
                <a:latin typeface="Courier New" panose="02070309020205020404" pitchFamily="49" charset="0"/>
              </a:rPr>
              <a:t>Brand_fixed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",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    y="</a:t>
            </a:r>
            <a:r>
              <a:rPr lang="en-IN" sz="1600" dirty="0" err="1">
                <a:effectLst/>
                <a:latin typeface="Courier New" panose="02070309020205020404" pitchFamily="49" charset="0"/>
              </a:rPr>
              <a:t>Price_INR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",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    estimator="mean",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    </a:t>
            </a:r>
            <a:r>
              <a:rPr lang="en-IN" sz="1600" dirty="0" err="1">
                <a:effectLst/>
                <a:latin typeface="Courier New" panose="02070309020205020404" pitchFamily="49" charset="0"/>
              </a:rPr>
              <a:t>errorbar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=None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 err="1">
                <a:effectLst/>
                <a:latin typeface="Courier New" panose="02070309020205020404" pitchFamily="49" charset="0"/>
              </a:rPr>
              <a:t>plt.xticks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(rotation=45)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 err="1">
                <a:effectLst/>
                <a:latin typeface="Courier New" panose="02070309020205020404" pitchFamily="49" charset="0"/>
              </a:rPr>
              <a:t>plt.title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("Average Price by Brand“)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 err="1">
                <a:effectLst/>
                <a:latin typeface="Courier New" panose="02070309020205020404" pitchFamily="49" charset="0"/>
              </a:rPr>
              <a:t>plt.show</a:t>
            </a:r>
            <a:r>
              <a:rPr lang="en-IN" sz="1600" dirty="0"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41961" y="9917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</a:t>
            </a:r>
            <a:r>
              <a:rPr lang="en-IN" sz="2000" dirty="0">
                <a:solidFill>
                  <a:srgbClr val="FF0000"/>
                </a:solidFill>
              </a:rPr>
              <a:t>Front Brake Distribution - Which front braking system is most commonly used among the bikes?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599"/>
            <a:ext cx="5394960" cy="284583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sz="1600" dirty="0" err="1"/>
              <a:t>df</a:t>
            </a:r>
            <a:r>
              <a:rPr lang="en-IN" sz="1600" dirty="0"/>
              <a:t>["</a:t>
            </a:r>
            <a:r>
              <a:rPr lang="en-IN" sz="1600" dirty="0" err="1"/>
              <a:t>Front_Brake</a:t>
            </a:r>
            <a:r>
              <a:rPr lang="en-IN" sz="1600" dirty="0"/>
              <a:t>"].</a:t>
            </a:r>
            <a:r>
              <a:rPr lang="en-IN" sz="1600" dirty="0" err="1"/>
              <a:t>value_counts</a:t>
            </a:r>
            <a:r>
              <a:rPr lang="en-IN" sz="1600" dirty="0"/>
              <a:t>().plot(</a:t>
            </a:r>
          </a:p>
          <a:p>
            <a:r>
              <a:rPr lang="en-IN" sz="1600" dirty="0" err="1"/>
              <a:t>df</a:t>
            </a:r>
            <a:r>
              <a:rPr lang="en-IN" sz="1600" dirty="0"/>
              <a:t>["</a:t>
            </a:r>
            <a:r>
              <a:rPr lang="en-IN" sz="1600" dirty="0" err="1"/>
              <a:t>Front_Brake</a:t>
            </a:r>
            <a:r>
              <a:rPr lang="en-IN" sz="1600" dirty="0"/>
              <a:t>"].</a:t>
            </a:r>
            <a:r>
              <a:rPr lang="en-IN" sz="1600" dirty="0" err="1"/>
              <a:t>value_counts</a:t>
            </a:r>
            <a:r>
              <a:rPr lang="en-IN" sz="1600" dirty="0"/>
              <a:t>().plot(</a:t>
            </a:r>
          </a:p>
          <a:p>
            <a:r>
              <a:rPr lang="en-IN" sz="1600" dirty="0"/>
              <a:t>    kind="pie",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autopct</a:t>
            </a:r>
            <a:r>
              <a:rPr lang="en-IN" sz="1600" dirty="0"/>
              <a:t>="%1.1f%%",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figsize</a:t>
            </a:r>
            <a:r>
              <a:rPr lang="en-IN" sz="1600" dirty="0"/>
              <a:t>=(5,5)</a:t>
            </a:r>
          </a:p>
          <a:p>
            <a:r>
              <a:rPr lang="en-IN" sz="1600" dirty="0"/>
              <a:t>)</a:t>
            </a:r>
          </a:p>
          <a:p>
            <a:r>
              <a:rPr lang="en-IN" sz="1600" dirty="0" err="1"/>
              <a:t>plt.ylabel</a:t>
            </a:r>
            <a:r>
              <a:rPr lang="en-IN" sz="1600" dirty="0"/>
              <a:t>("")</a:t>
            </a:r>
          </a:p>
          <a:p>
            <a:r>
              <a:rPr lang="en-IN" sz="1600" dirty="0" err="1"/>
              <a:t>plt.title</a:t>
            </a:r>
            <a:r>
              <a:rPr lang="en-IN" sz="1600" dirty="0"/>
              <a:t>("Front Brake Distribution")</a:t>
            </a:r>
          </a:p>
          <a:p>
            <a:r>
              <a:rPr lang="en-IN" sz="1600" dirty="0" err="1"/>
              <a:t>plt.show</a:t>
            </a:r>
            <a:r>
              <a:rPr lang="en-IN" sz="1600" dirty="0"/>
              <a:t>()</a:t>
            </a:r>
          </a:p>
          <a:p>
            <a:endParaRPr lang="en-IN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5734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893503"/>
            <a:ext cx="5394960" cy="431857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BD38AB-EA8E-48F8-B67C-C4D239CF60CC}"/>
              </a:ext>
            </a:extLst>
          </p:cNvPr>
          <p:cNvGrpSpPr/>
          <p:nvPr/>
        </p:nvGrpSpPr>
        <p:grpSpPr>
          <a:xfrm>
            <a:off x="6217920" y="893503"/>
            <a:ext cx="5394960" cy="320040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401040-91D9-4A0C-A98C-3630DF099BE0}"/>
              </a:ext>
            </a:extLst>
          </p:cNvPr>
          <p:cNvGrpSpPr/>
          <p:nvPr/>
        </p:nvGrpSpPr>
        <p:grpSpPr>
          <a:xfrm>
            <a:off x="563880" y="5047488"/>
            <a:ext cx="11064240" cy="1220078"/>
            <a:chOff x="548640" y="3931920"/>
            <a:chExt cx="11064240" cy="1220078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72606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6126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Disc brakes dominate the dataset, accounting for approximately 57.4% of the </a:t>
              </a:r>
              <a:r>
                <a:rPr lang="en-IN" sz="1600" b="1" dirty="0" err="1"/>
                <a:t>analyzed</a:t>
              </a:r>
              <a:r>
                <a:rPr lang="en-IN" sz="1600" b="1" dirty="0"/>
                <a:t> bikes, indicating their widespread adoption among modern motorcycles.</a:t>
              </a:r>
              <a:endParaRPr lang="en-US" sz="1600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86CB7BD-5E7C-36A7-7497-ACE947C3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88" y="1344168"/>
            <a:ext cx="3694183" cy="39044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</a:t>
            </a:r>
            <a:r>
              <a:rPr lang="en-IN" sz="2000" dirty="0">
                <a:solidFill>
                  <a:srgbClr val="FF0000"/>
                </a:solidFill>
              </a:rPr>
              <a:t>How does bike price vary across different tire types?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39614" cy="2780522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79"/>
            <a:ext cx="5029200" cy="24436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600" dirty="0" err="1"/>
              <a:t>plt.figure</a:t>
            </a:r>
            <a:r>
              <a:rPr lang="en-US" sz="1600" dirty="0"/>
              <a:t>(</a:t>
            </a:r>
            <a:r>
              <a:rPr lang="en-US" sz="1600" dirty="0" err="1"/>
              <a:t>figsize</a:t>
            </a:r>
            <a:r>
              <a:rPr lang="en-US" sz="1600" dirty="0"/>
              <a:t>=(8, 5))</a:t>
            </a:r>
          </a:p>
          <a:p>
            <a:pPr>
              <a:lnSpc>
                <a:spcPts val="1800"/>
              </a:lnSpc>
            </a:pPr>
            <a:r>
              <a:rPr lang="en-US" sz="1600" dirty="0" err="1"/>
              <a:t>sns.boxplot</a:t>
            </a:r>
            <a:r>
              <a:rPr lang="en-US" sz="1600" dirty="0"/>
              <a:t>(</a:t>
            </a:r>
          </a:p>
          <a:p>
            <a:pPr>
              <a:lnSpc>
                <a:spcPts val="1800"/>
              </a:lnSpc>
            </a:pPr>
            <a:r>
              <a:rPr lang="en-US" sz="1600" dirty="0"/>
              <a:t>    data=</a:t>
            </a:r>
            <a:r>
              <a:rPr lang="en-US" sz="1600" dirty="0" err="1"/>
              <a:t>df_eda</a:t>
            </a:r>
            <a:r>
              <a:rPr lang="en-US" sz="1600" dirty="0"/>
              <a:t>,</a:t>
            </a:r>
          </a:p>
          <a:p>
            <a:pPr>
              <a:lnSpc>
                <a:spcPts val="1800"/>
              </a:lnSpc>
            </a:pPr>
            <a:r>
              <a:rPr lang="en-US" sz="1600" dirty="0"/>
              <a:t>    x="</a:t>
            </a:r>
            <a:r>
              <a:rPr lang="en-US" sz="1600" dirty="0" err="1"/>
              <a:t>Tire_Type_clean</a:t>
            </a:r>
            <a:r>
              <a:rPr lang="en-US" sz="1600" dirty="0"/>
              <a:t>",</a:t>
            </a:r>
          </a:p>
          <a:p>
            <a:pPr>
              <a:lnSpc>
                <a:spcPts val="1800"/>
              </a:lnSpc>
            </a:pPr>
            <a:r>
              <a:rPr lang="en-US" sz="1600" dirty="0"/>
              <a:t>    y="</a:t>
            </a:r>
            <a:r>
              <a:rPr lang="en-US" sz="1600" dirty="0" err="1"/>
              <a:t>Price_INR</a:t>
            </a:r>
            <a:r>
              <a:rPr lang="en-US" sz="1600" dirty="0"/>
              <a:t>"</a:t>
            </a:r>
          </a:p>
          <a:p>
            <a:pPr>
              <a:lnSpc>
                <a:spcPts val="1800"/>
              </a:lnSpc>
            </a:pPr>
            <a:r>
              <a:rPr lang="en-US" sz="1600" dirty="0"/>
              <a:t>)</a:t>
            </a:r>
          </a:p>
          <a:p>
            <a:pPr>
              <a:lnSpc>
                <a:spcPts val="1800"/>
              </a:lnSpc>
            </a:pPr>
            <a:r>
              <a:rPr lang="en-US" sz="1600" dirty="0" err="1"/>
              <a:t>plt.title</a:t>
            </a:r>
            <a:r>
              <a:rPr lang="en-US" sz="1600" dirty="0"/>
              <a:t>("Bike Price by Tire Type")</a:t>
            </a:r>
          </a:p>
          <a:p>
            <a:pPr>
              <a:lnSpc>
                <a:spcPts val="1800"/>
              </a:lnSpc>
            </a:pPr>
            <a:r>
              <a:rPr lang="en-US" sz="1600" dirty="0" err="1"/>
              <a:t>plt.xlabel</a:t>
            </a:r>
            <a:r>
              <a:rPr lang="en-US" sz="1600" dirty="0"/>
              <a:t>("Tire Type")</a:t>
            </a:r>
          </a:p>
          <a:p>
            <a:pPr>
              <a:lnSpc>
                <a:spcPts val="1800"/>
              </a:lnSpc>
            </a:pPr>
            <a:r>
              <a:rPr lang="en-US" sz="1600" dirty="0" err="1"/>
              <a:t>plt.ylabel</a:t>
            </a:r>
            <a:r>
              <a:rPr lang="en-US" sz="1600" dirty="0"/>
              <a:t>("Price (INR)")</a:t>
            </a:r>
          </a:p>
          <a:p>
            <a:pPr>
              <a:lnSpc>
                <a:spcPts val="1800"/>
              </a:lnSpc>
            </a:pPr>
            <a:r>
              <a:rPr lang="en-US" sz="1600" dirty="0" err="1"/>
              <a:t>plt.show</a:t>
            </a:r>
            <a:r>
              <a:rPr lang="en-US" sz="1600" dirty="0"/>
              <a:t>()</a:t>
            </a:r>
          </a:p>
        </p:txBody>
      </p:sp>
      <p:sp>
        <p:nvSpPr>
          <p:cNvPr id="12" name="Text 10"/>
          <p:cNvSpPr/>
          <p:nvPr/>
        </p:nvSpPr>
        <p:spPr>
          <a:xfrm>
            <a:off x="62179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394960" cy="3922776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5508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5624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5741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5C00D7-9B0B-4FEC-BCBE-5730C1A648C1}"/>
              </a:ext>
            </a:extLst>
          </p:cNvPr>
          <p:cNvGrpSpPr/>
          <p:nvPr/>
        </p:nvGrpSpPr>
        <p:grpSpPr>
          <a:xfrm>
            <a:off x="548640" y="5102352"/>
            <a:ext cx="11064240" cy="1920240"/>
            <a:chOff x="548640" y="3931920"/>
            <a:chExt cx="11064240" cy="1920240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Bikes with tubeless tires generally have higher median prices and a wider price distribution compared with tubed bikes, indicating that tubeless tires are more prevalent among higher-priced models</a:t>
              </a:r>
              <a:r>
                <a:rPr lang="en-IN" sz="1600" dirty="0"/>
                <a:t>.</a:t>
              </a:r>
              <a:endParaRPr lang="en-US" sz="1600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577AD7F-36D4-4C18-9C96-55A377145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547585" y="1964499"/>
            <a:ext cx="4735629" cy="308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6122469" y="1051559"/>
            <a:ext cx="5394960" cy="358541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6103058" y="1044710"/>
            <a:ext cx="5765854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110642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</a:t>
            </a:r>
            <a:r>
              <a:rPr lang="en-IN" sz="2000" dirty="0">
                <a:solidFill>
                  <a:srgbClr val="FF0000"/>
                </a:solidFill>
              </a:rPr>
              <a:t>Engine Capacity vs Maximum Power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Does a higher engine capacity generally result in higher maximum power?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912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2918" y="1044710"/>
            <a:ext cx="5394960" cy="3239268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04471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4088" y="4463904"/>
            <a:ext cx="2617751" cy="38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:-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6186" y="4850246"/>
            <a:ext cx="11064240" cy="1600200"/>
          </a:xfrm>
          <a:prstGeom prst="rect">
            <a:avLst/>
          </a:prstGeom>
          <a:solidFill>
            <a:srgbClr val="FBF2F2"/>
          </a:solidFill>
          <a:ln w="12700">
            <a:solidFill>
              <a:srgbClr val="F0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850246"/>
            <a:ext cx="10607040" cy="1001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Engine capacity and maximum power show a strong positive correlation, indicating that engine size is an important factor associated with motorcycle performance.</a:t>
            </a:r>
          </a:p>
          <a:p>
            <a:pPr marL="0" indent="0">
              <a:buNone/>
            </a:pPr>
            <a:endParaRPr lang="en-US" sz="1350" dirty="0"/>
          </a:p>
        </p:txBody>
      </p: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6122469" y="704087"/>
            <a:ext cx="3657600" cy="354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9629" y="1161287"/>
            <a:ext cx="100584" cy="11156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60797" y="1161287"/>
            <a:ext cx="100584" cy="11156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61965" y="1161287"/>
            <a:ext cx="100584" cy="11156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036869" y="1051559"/>
            <a:ext cx="4297680" cy="354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0DF907-18B0-4A66-8EA4-608FFB73A018}"/>
              </a:ext>
            </a:extLst>
          </p:cNvPr>
          <p:cNvGrpSpPr/>
          <p:nvPr/>
        </p:nvGrpSpPr>
        <p:grpSpPr>
          <a:xfrm>
            <a:off x="536929" y="1044710"/>
            <a:ext cx="5394960" cy="3207250"/>
            <a:chOff x="548640" y="1371600"/>
            <a:chExt cx="5394960" cy="3207250"/>
          </a:xfrm>
        </p:grpSpPr>
        <p:sp>
          <p:nvSpPr>
            <p:cNvPr id="6" name="Shape 4"/>
            <p:cNvSpPr/>
            <p:nvPr/>
          </p:nvSpPr>
          <p:spPr>
            <a:xfrm>
              <a:off x="54864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5"/>
            <p:cNvSpPr/>
            <p:nvPr/>
          </p:nvSpPr>
          <p:spPr>
            <a:xfrm>
              <a:off x="68580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88696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108813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731520" y="1757942"/>
              <a:ext cx="5029200" cy="28209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dirty="0" err="1"/>
                <a:t>plt.figure</a:t>
              </a:r>
              <a:r>
                <a:rPr lang="en-IN" sz="1600" dirty="0"/>
                <a:t>(</a:t>
              </a:r>
              <a:r>
                <a:rPr lang="en-IN" sz="1600" dirty="0" err="1"/>
                <a:t>figsize</a:t>
              </a:r>
              <a:r>
                <a:rPr lang="en-IN" sz="1600" dirty="0"/>
                <a:t>=(9, 5))</a:t>
              </a:r>
            </a:p>
            <a:p>
              <a:r>
                <a:rPr lang="en-IN" sz="1600" dirty="0" err="1"/>
                <a:t>sns.scatterplot</a:t>
              </a:r>
              <a:r>
                <a:rPr lang="en-IN" sz="1600" dirty="0"/>
                <a:t>(</a:t>
              </a:r>
            </a:p>
            <a:p>
              <a:r>
                <a:rPr lang="en-IN" sz="1600" dirty="0"/>
                <a:t>    data=</a:t>
              </a:r>
              <a:r>
                <a:rPr lang="en-IN" sz="1600" dirty="0" err="1"/>
                <a:t>df</a:t>
              </a:r>
              <a:r>
                <a:rPr lang="en-IN" sz="1600" dirty="0"/>
                <a:t>,</a:t>
              </a:r>
            </a:p>
            <a:p>
              <a:r>
                <a:rPr lang="en-IN" sz="1600" dirty="0"/>
                <a:t>    x="</a:t>
              </a:r>
              <a:r>
                <a:rPr lang="en-IN" sz="1600" dirty="0" err="1"/>
                <a:t>Engine_Capacity_CC</a:t>
              </a:r>
              <a:r>
                <a:rPr lang="en-IN" sz="1600" dirty="0"/>
                <a:t>",</a:t>
              </a:r>
            </a:p>
            <a:p>
              <a:r>
                <a:rPr lang="en-IN" sz="1600" dirty="0"/>
                <a:t>    y="</a:t>
              </a:r>
              <a:r>
                <a:rPr lang="en-IN" sz="1600" dirty="0" err="1"/>
                <a:t>Maximum_Power_BHP</a:t>
              </a:r>
              <a:r>
                <a:rPr lang="en-IN" sz="1600" dirty="0"/>
                <a:t>"</a:t>
              </a:r>
            </a:p>
            <a:p>
              <a:r>
                <a:rPr lang="en-IN" sz="1600" dirty="0"/>
                <a:t>)</a:t>
              </a:r>
            </a:p>
            <a:p>
              <a:r>
                <a:rPr lang="en-IN" sz="1600" dirty="0" err="1"/>
                <a:t>plt.title</a:t>
              </a:r>
              <a:r>
                <a:rPr lang="en-IN" sz="1600" dirty="0"/>
                <a:t>("Engine Capacity vs Maximum Power")</a:t>
              </a:r>
            </a:p>
            <a:p>
              <a:r>
                <a:rPr lang="en-IN" sz="1600" dirty="0" err="1"/>
                <a:t>plt.xlabel</a:t>
              </a:r>
              <a:r>
                <a:rPr lang="en-IN" sz="1600" dirty="0"/>
                <a:t>("Engine Capacity (CC)")</a:t>
              </a:r>
            </a:p>
            <a:p>
              <a:r>
                <a:rPr lang="en-IN" sz="1600" dirty="0" err="1"/>
                <a:t>plt.ylabel</a:t>
              </a:r>
              <a:r>
                <a:rPr lang="en-IN" sz="1600" dirty="0"/>
                <a:t>("Maximum Power (BHP)")</a:t>
              </a:r>
            </a:p>
            <a:p>
              <a:r>
                <a:rPr lang="en-IN" sz="1600" dirty="0" err="1"/>
                <a:t>plt.show</a:t>
              </a:r>
              <a:r>
                <a:rPr lang="en-IN" sz="1600" dirty="0"/>
                <a:t>()</a:t>
              </a:r>
            </a:p>
            <a:p>
              <a:pPr marL="0" indent="0">
                <a:lnSpc>
                  <a:spcPts val="1800"/>
                </a:lnSpc>
                <a:buNone/>
              </a:pPr>
              <a:endParaRPr lang="en-US" sz="1600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9DFB03B-8ED3-2854-5853-6ACBC205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932" y="1561338"/>
            <a:ext cx="5669980" cy="30756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5315552" y="948367"/>
            <a:ext cx="6297328" cy="4311396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9"/>
            <a:ext cx="11064240" cy="59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</a:t>
            </a:r>
            <a:r>
              <a:rPr lang="en-IN" sz="2000" dirty="0">
                <a:solidFill>
                  <a:srgbClr val="FF0000"/>
                </a:solidFill>
              </a:rPr>
              <a:t>Correlation Analysis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How strongly are the key numerical variables related to each other?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1" y="1371600"/>
            <a:ext cx="4629752" cy="329184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629753" cy="41148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9120" y="1783079"/>
            <a:ext cx="5181600" cy="3084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 err="1"/>
              <a:t>plt.figure</a:t>
            </a:r>
            <a:r>
              <a:rPr lang="en-IN" sz="1600" dirty="0"/>
              <a:t>(</a:t>
            </a:r>
            <a:r>
              <a:rPr lang="en-IN" sz="1600" dirty="0" err="1"/>
              <a:t>figsize</a:t>
            </a:r>
            <a:r>
              <a:rPr lang="en-IN" sz="1600" dirty="0"/>
              <a:t>=(8,6))</a:t>
            </a:r>
          </a:p>
          <a:p>
            <a:r>
              <a:rPr lang="en-IN" sz="1600" dirty="0" err="1"/>
              <a:t>corr</a:t>
            </a:r>
            <a:r>
              <a:rPr lang="en-IN" sz="1600" dirty="0"/>
              <a:t> = </a:t>
            </a:r>
            <a:r>
              <a:rPr lang="en-IN" sz="1600" dirty="0" err="1"/>
              <a:t>df</a:t>
            </a:r>
            <a:r>
              <a:rPr lang="en-IN" sz="1600" dirty="0"/>
              <a:t>[</a:t>
            </a:r>
            <a:r>
              <a:rPr lang="en-IN" sz="1600" dirty="0" err="1"/>
              <a:t>numerical_cols</a:t>
            </a:r>
            <a:r>
              <a:rPr lang="en-IN" sz="1600" dirty="0"/>
              <a:t>].</a:t>
            </a:r>
            <a:r>
              <a:rPr lang="en-IN" sz="1600" dirty="0" err="1"/>
              <a:t>corr</a:t>
            </a:r>
            <a:r>
              <a:rPr lang="en-IN" sz="1600" dirty="0"/>
              <a:t>()</a:t>
            </a:r>
          </a:p>
          <a:p>
            <a:r>
              <a:rPr lang="en-IN" sz="1600" dirty="0" err="1"/>
              <a:t>sns.heatmap</a:t>
            </a:r>
            <a:r>
              <a:rPr lang="en-IN" sz="1600" dirty="0"/>
              <a:t>(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corr</a:t>
            </a:r>
            <a:r>
              <a:rPr lang="en-IN" sz="1600" dirty="0"/>
              <a:t>,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annot</a:t>
            </a:r>
            <a:r>
              <a:rPr lang="en-IN" sz="1600" dirty="0"/>
              <a:t>=True,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cmap</a:t>
            </a:r>
            <a:r>
              <a:rPr lang="en-IN" sz="1600" dirty="0"/>
              <a:t>="</a:t>
            </a:r>
            <a:r>
              <a:rPr lang="en-IN" sz="1600" dirty="0" err="1"/>
              <a:t>coolwarm</a:t>
            </a:r>
            <a:r>
              <a:rPr lang="en-IN" sz="1600" dirty="0"/>
              <a:t>",</a:t>
            </a:r>
          </a:p>
          <a:p>
            <a:r>
              <a:rPr lang="en-IN" sz="1600" dirty="0"/>
              <a:t>    </a:t>
            </a:r>
            <a:r>
              <a:rPr lang="en-IN" sz="1600" dirty="0" err="1"/>
              <a:t>fmt</a:t>
            </a:r>
            <a:r>
              <a:rPr lang="en-IN" sz="1600" dirty="0"/>
              <a:t>=".2f"</a:t>
            </a:r>
          </a:p>
          <a:p>
            <a:r>
              <a:rPr lang="en-IN" sz="1600" dirty="0"/>
              <a:t>)</a:t>
            </a:r>
          </a:p>
          <a:p>
            <a:r>
              <a:rPr lang="en-IN" sz="1600" dirty="0" err="1"/>
              <a:t>plt.title</a:t>
            </a:r>
            <a:r>
              <a:rPr lang="en-IN" sz="1600" dirty="0"/>
              <a:t>("Correlation Matrix")</a:t>
            </a:r>
          </a:p>
          <a:p>
            <a:r>
              <a:rPr lang="en-IN" sz="1600" dirty="0" err="1"/>
              <a:t>plt.show</a:t>
            </a:r>
            <a:r>
              <a:rPr lang="en-IN" sz="1600" dirty="0"/>
              <a:t>()</a:t>
            </a:r>
          </a:p>
        </p:txBody>
      </p:sp>
      <p:sp>
        <p:nvSpPr>
          <p:cNvPr id="12" name="Text 10"/>
          <p:cNvSpPr/>
          <p:nvPr/>
        </p:nvSpPr>
        <p:spPr>
          <a:xfrm>
            <a:off x="6179175" y="64268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593B67-3310-4225-AE20-93A8885F5620}"/>
              </a:ext>
            </a:extLst>
          </p:cNvPr>
          <p:cNvGrpSpPr/>
          <p:nvPr/>
        </p:nvGrpSpPr>
        <p:grpSpPr>
          <a:xfrm>
            <a:off x="5315552" y="948367"/>
            <a:ext cx="6298932" cy="350082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2E2726-BD3C-4F47-81D0-D9CFDF7D6B32}"/>
              </a:ext>
            </a:extLst>
          </p:cNvPr>
          <p:cNvGrpSpPr/>
          <p:nvPr/>
        </p:nvGrpSpPr>
        <p:grpSpPr>
          <a:xfrm>
            <a:off x="548640" y="5102352"/>
            <a:ext cx="11064240" cy="1112959"/>
            <a:chOff x="548640" y="3989393"/>
            <a:chExt cx="11064240" cy="1112959"/>
          </a:xfrm>
        </p:grpSpPr>
        <p:sp>
          <p:nvSpPr>
            <p:cNvPr id="20" name="Text 18"/>
            <p:cNvSpPr/>
            <p:nvPr/>
          </p:nvSpPr>
          <p:spPr>
            <a:xfrm>
              <a:off x="548640" y="3989393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5806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Price and Maximum Power also show a positive relationship, suggesting that higher-performance bikes tend to be positioned at higher price points.</a:t>
              </a:r>
              <a:endParaRPr lang="en-US" sz="1600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6AAC876-7C6B-4A50-A7A0-9E835541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179955" y="1344168"/>
            <a:ext cx="4594992" cy="400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41960" y="-274320"/>
            <a:ext cx="11170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 -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1960" y="873493"/>
            <a:ext cx="11079480" cy="6095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2000" b="1" dirty="0"/>
              <a:t>1. Brand Market Presence</a:t>
            </a:r>
            <a:br>
              <a:rPr lang="en-IN" sz="2000" dirty="0"/>
            </a:br>
            <a:r>
              <a:rPr lang="en-IN" sz="2000" b="1" dirty="0"/>
              <a:t>Hero </a:t>
            </a:r>
            <a:r>
              <a:rPr lang="en-IN" sz="2000" dirty="0"/>
              <a:t>has the highest number of bike listings, indicating strong product presence in the </a:t>
            </a:r>
            <a:r>
              <a:rPr lang="en-IN" sz="2000" dirty="0" err="1"/>
              <a:t>analyzed</a:t>
            </a:r>
            <a:r>
              <a:rPr lang="en-IN" sz="2000" dirty="0"/>
              <a:t> dataset.</a:t>
            </a:r>
          </a:p>
          <a:p>
            <a:r>
              <a:rPr lang="en-IN" sz="2000" b="1" dirty="0"/>
              <a:t>2. Premium Brand</a:t>
            </a:r>
            <a:br>
              <a:rPr lang="en-IN" sz="2000" dirty="0"/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Harley Davidson</a:t>
            </a:r>
            <a:r>
              <a:rPr lang="en-IN" dirty="0"/>
              <a:t> </a:t>
            </a:r>
            <a:r>
              <a:rPr lang="en-IN" sz="2000" dirty="0"/>
              <a:t>has the highest average bike price, suggesting a stronger focus on the premium segment.</a:t>
            </a:r>
          </a:p>
          <a:p>
            <a:r>
              <a:rPr lang="en-IN" sz="2000" b="1" dirty="0"/>
              <a:t>3. Dominant Engine Segment</a:t>
            </a:r>
            <a:br>
              <a:rPr lang="en-IN" sz="2000" dirty="0"/>
            </a:br>
            <a:r>
              <a:rPr lang="en-IN" sz="2000" b="1" dirty="0"/>
              <a:t>100-200 CC</a:t>
            </a:r>
            <a:r>
              <a:rPr lang="en-IN" sz="2000" dirty="0"/>
              <a:t> bikes are is the most commonly represented engine capacity among the </a:t>
            </a:r>
            <a:r>
              <a:rPr lang="en-IN" sz="2000" dirty="0" err="1"/>
              <a:t>analyzed</a:t>
            </a:r>
            <a:r>
              <a:rPr lang="en-IN" sz="2000" dirty="0"/>
              <a:t> bikes.</a:t>
            </a:r>
          </a:p>
          <a:p>
            <a:r>
              <a:rPr lang="en-IN" sz="2000" b="1" dirty="0"/>
              <a:t>4. Performance Relationship</a:t>
            </a:r>
            <a:br>
              <a:rPr lang="en-IN" sz="2000" dirty="0"/>
            </a:br>
            <a:r>
              <a:rPr lang="en-IN" sz="2000" dirty="0"/>
              <a:t>Engine capacity and maximum power show a </a:t>
            </a:r>
            <a:r>
              <a:rPr lang="en-IN" sz="2000" b="1" dirty="0"/>
              <a:t>positive relationship</a:t>
            </a:r>
            <a:r>
              <a:rPr lang="en-IN" sz="2000" dirty="0"/>
              <a:t>, indicating that higher-CC bikes generally produce greater power.</a:t>
            </a:r>
          </a:p>
          <a:p>
            <a:r>
              <a:rPr lang="en-IN" sz="2000" b="1" dirty="0"/>
              <a:t>5. Price–Performance Relationship</a:t>
            </a:r>
            <a:br>
              <a:rPr lang="en-IN" sz="2000" dirty="0"/>
            </a:br>
            <a:r>
              <a:rPr lang="en-IN" sz="2000" dirty="0"/>
              <a:t>Higher-powered bikes generally command </a:t>
            </a:r>
            <a:r>
              <a:rPr lang="en-IN" sz="2000" b="1" dirty="0"/>
              <a:t>higher prices</a:t>
            </a:r>
            <a:r>
              <a:rPr lang="en-IN" sz="2000" dirty="0"/>
              <a:t>, showing an association between performance and pricing.</a:t>
            </a:r>
          </a:p>
          <a:p>
            <a:r>
              <a:rPr lang="en-IN" sz="2000" b="1" dirty="0"/>
              <a:t>6. Braking System</a:t>
            </a:r>
            <a:br>
              <a:rPr lang="en-IN" sz="2000" dirty="0"/>
            </a:br>
            <a:r>
              <a:rPr lang="en-IN" dirty="0"/>
              <a:t>Disc Break </a:t>
            </a:r>
            <a:r>
              <a:rPr lang="en-IN" sz="2000" dirty="0"/>
              <a:t>is the most commonly listed front braking system, showing its widespread presence across the </a:t>
            </a:r>
            <a:r>
              <a:rPr lang="en-IN" sz="2000" dirty="0" err="1"/>
              <a:t>analyzed</a:t>
            </a:r>
            <a:r>
              <a:rPr lang="en-IN" sz="2000" dirty="0"/>
              <a:t> models.</a:t>
            </a:r>
          </a:p>
          <a:p>
            <a:r>
              <a:rPr lang="en-IN" sz="2000" b="1" dirty="0"/>
              <a:t>7.  Tire &amp; Price Pattern</a:t>
            </a:r>
            <a:br>
              <a:rPr lang="en-IN" sz="2000" dirty="0"/>
            </a:br>
            <a:r>
              <a:rPr lang="en-IN" sz="2000" b="1" dirty="0"/>
              <a:t>Disc</a:t>
            </a:r>
            <a:r>
              <a:rPr lang="en-IN" sz="2000" dirty="0"/>
              <a:t> bikes show a higher median price compared with </a:t>
            </a:r>
            <a:r>
              <a:rPr lang="en-IN" sz="2000" b="1" dirty="0"/>
              <a:t>Drum</a:t>
            </a:r>
            <a:r>
              <a:rPr lang="en-IN" sz="2000" dirty="0"/>
              <a:t> bikes in the dataset.</a:t>
            </a:r>
          </a:p>
          <a:p>
            <a:endParaRPr lang="en-US" sz="2000" dirty="0">
              <a:latin typeface="Bahnschrift Light" panose="020B0502040204020203" pitchFamily="34" charset="0"/>
            </a:endParaRPr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75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Dynamic Web Data</a:t>
            </a:r>
            <a:br>
              <a:rPr lang="en-IN" sz="2300" dirty="0"/>
            </a:br>
            <a:r>
              <a:rPr lang="en-IN" sz="2300" dirty="0"/>
              <a:t>Website content and structure can change.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Inconsistent Data Formats</a:t>
            </a:r>
            <a:br>
              <a:rPr lang="en-IN" sz="2300" dirty="0"/>
            </a:br>
            <a:r>
              <a:rPr lang="en-IN" sz="2300" dirty="0"/>
              <a:t>Bike specifications were available in different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Missing Values</a:t>
            </a:r>
            <a:br>
              <a:rPr lang="en-IN" sz="2300" dirty="0"/>
            </a:br>
            <a:r>
              <a:rPr lang="en-IN" sz="2300" dirty="0"/>
              <a:t>Some specifications were not available for all bikes.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Power Standardization</a:t>
            </a:r>
            <a:br>
              <a:rPr lang="en-IN" sz="2300" dirty="0"/>
            </a:br>
            <a:r>
              <a:rPr lang="en-IN" sz="2300" dirty="0"/>
              <a:t>Maximum power was available in different units and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Data Cleaning</a:t>
            </a:r>
            <a:br>
              <a:rPr lang="en-IN" sz="2300" dirty="0"/>
            </a:br>
            <a:r>
              <a:rPr lang="en-IN" sz="2300" dirty="0"/>
              <a:t>Brand names, categories, and specifications required standardization.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Electric Bike Filtering</a:t>
            </a:r>
            <a:br>
              <a:rPr lang="en-IN" sz="2300" dirty="0"/>
            </a:br>
            <a:r>
              <a:rPr lang="en-IN" sz="2300" dirty="0"/>
              <a:t>Electric-specific records and attributes had to be excluded from the final analysis.</a:t>
            </a:r>
          </a:p>
          <a:p>
            <a:pPr marL="342900" indent="-34290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endParaRPr lang="en-US" sz="23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70829"/>
            <a:ext cx="11064240" cy="4131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Successfully collected 263 bike listings from Flipkart. </a:t>
            </a:r>
          </a:p>
          <a:p>
            <a:pPr lvl="0"/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Cleaned and transformed the scraped data into 11 analysis-ready features.</a:t>
            </a:r>
          </a:p>
          <a:p>
            <a:pPr lvl="0"/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/>
              <a:t>Analyzed</a:t>
            </a:r>
            <a:r>
              <a:rPr lang="en-IN" sz="2200" dirty="0"/>
              <a:t> pricing, brands, performance, ratings, and bike features. </a:t>
            </a:r>
          </a:p>
          <a:p>
            <a:pPr lvl="0"/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Identified relationships between engine capacity, power, and price. </a:t>
            </a:r>
          </a:p>
          <a:p>
            <a:pPr lvl="0"/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Generated data-driven business insights and recommendations.</a:t>
            </a:r>
          </a:p>
          <a:p>
            <a:pPr lvl="0"/>
            <a:endParaRPr lang="en-IN" sz="2200" dirty="0"/>
          </a:p>
          <a:p>
            <a:pPr lvl="6"/>
            <a:r>
              <a:rPr lang="en-IN" sz="2400" b="1" dirty="0"/>
              <a:t>Real-world bike data → Meaningful market insights</a:t>
            </a:r>
            <a:endParaRPr lang="en-IN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7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6377980"/>
            <a:ext cx="1554480" cy="223988"/>
          </a:xfrm>
          <a:prstGeom prst="rect">
            <a:avLst/>
          </a:prstGeom>
        </p:spPr>
      </p:pic>
      <p:pic>
        <p:nvPicPr>
          <p:cNvPr id="8" name="Picture 7" descr="Thank you symbol Images - Free Download on Magnific (formerly Freepik)">
            <a:extLst>
              <a:ext uri="{FF2B5EF4-FFF2-40B4-BE49-F238E27FC236}">
                <a16:creationId xmlns:a16="http://schemas.microsoft.com/office/drawing/2014/main" id="{22AA5CFB-80DC-52BE-0515-E83EE0740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171" y="901616"/>
            <a:ext cx="8287351" cy="52296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1644</Words>
  <Application>Microsoft Office PowerPoint</Application>
  <PresentationFormat>Widescreen</PresentationFormat>
  <Paragraphs>286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Bahnschrift Light</vt:lpstr>
      <vt:lpstr>Consolas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hemanth kolluru</cp:lastModifiedBy>
  <cp:revision>31</cp:revision>
  <dcterms:created xsi:type="dcterms:W3CDTF">2026-07-24T04:23:56Z</dcterms:created>
  <dcterms:modified xsi:type="dcterms:W3CDTF">2026-08-26T09:04:21Z</dcterms:modified>
</cp:coreProperties>
</file>